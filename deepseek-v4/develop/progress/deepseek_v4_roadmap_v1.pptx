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63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e, Wen" userId="99e92694-aefd-4ea2-a312-fe97511adf14" providerId="ADAL" clId="{02E27E39-D6CE-466A-873C-20103B7BEE9A}"/>
    <pc:docChg chg="modSld">
      <pc:chgData name="Xie, Wen" userId="99e92694-aefd-4ea2-a312-fe97511adf14" providerId="ADAL" clId="{02E27E39-D6CE-466A-873C-20103B7BEE9A}" dt="2026-05-01T07:55:38.599" v="13" actId="20577"/>
      <pc:docMkLst>
        <pc:docMk/>
      </pc:docMkLst>
      <pc:sldChg chg="modSp mod">
        <pc:chgData name="Xie, Wen" userId="99e92694-aefd-4ea2-a312-fe97511adf14" providerId="ADAL" clId="{02E27E39-D6CE-466A-873C-20103B7BEE9A}" dt="2026-05-01T07:55:38.599" v="13" actId="20577"/>
        <pc:sldMkLst>
          <pc:docMk/>
          <pc:sldMk cId="0" sldId="263"/>
        </pc:sldMkLst>
        <pc:spChg chg="mod">
          <ac:chgData name="Xie, Wen" userId="99e92694-aefd-4ea2-a312-fe97511adf14" providerId="ADAL" clId="{02E27E39-D6CE-466A-873C-20103B7BEE9A}" dt="2026-05-01T07:55:38.599" v="13" actId="20577"/>
          <ac:spMkLst>
            <pc:docMk/>
            <pc:sldMk cId="0" sldId="263"/>
            <ac:spMk id="3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A087F8-B82C-F5AB-4FA4-D70595D7F5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 rot="20880000">
            <a:off x="-914400" y="2286000"/>
            <a:ext cx="13716000" cy="11430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 rot="20880000">
            <a:off x="-914400" y="4297680"/>
            <a:ext cx="13716000" cy="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72400" y="-2286000"/>
            <a:ext cx="7315200" cy="7315200"/>
          </a:xfrm>
          <a:prstGeom prst="ellipse">
            <a:avLst/>
          </a:prstGeom>
          <a:noFill/>
          <a:ln w="1905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noFill/>
          <a:ln w="9525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DDCFF"/>
                </a:solidFill>
                <a:latin typeface="JetBrains Mono"/>
              </a:rPr>
              <a:t>PRIMUS × MEGATRON-LM  ·  PLAN-2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46888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E3E8FA"/>
                </a:solidFill>
                <a:latin typeface="Inter"/>
              </a:rPr>
              <a:t>DEEPSEEK-V4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5204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i="0">
                <a:solidFill>
                  <a:srgbClr val="4DDCFF"/>
                </a:solidFill>
                <a:latin typeface="Inter"/>
              </a:rPr>
              <a:t>in PRIMUS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6A1C4"/>
                </a:solidFill>
                <a:latin typeface="Inter"/>
              </a:rPr>
              <a:t>Architecture-faithful rewrite. Megatron-native. Checkpoint-compatible.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88"/>
                </a:solidFill>
                <a:latin typeface="JetBrains Mono"/>
              </a:rPr>
              <a:t>v3.0 · 2026-05-01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0350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B46B"/>
                </a:solidFill>
                <a:latin typeface="JetBrains Mono"/>
              </a:rPr>
              <a:t>PLAN-0  →  PLAN-1  →  PLAN-2</a:t>
            </a:r>
          </a:p>
        </p:txBody>
      </p:sp>
      <p:sp>
        <p:nvSpPr>
          <p:cNvPr id="43" name="Oval 42"/>
          <p:cNvSpPr/>
          <p:nvPr/>
        </p:nvSpPr>
        <p:spPr>
          <a:xfrm>
            <a:off x="10607040" y="5989320"/>
            <a:ext cx="201168" cy="20116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927080" y="5989320"/>
            <a:ext cx="201168" cy="20116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247119" y="5989320"/>
            <a:ext cx="201168" cy="20116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165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4DDCFF"/>
                </a:solidFill>
                <a:latin typeface="JetBrains Mono"/>
              </a:rPr>
              <a:t>DEVELOPMENT SCHEDULE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Day-by-day plan — 8 working days across two work blocks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Past block: Apr 28 → May 01 (landed). Holiday: May 02 → 05 (skipped). Plan-2 block: May 06 → 09.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457200" y="2770632"/>
            <a:ext cx="0" cy="0"/>
          </a:xfrm>
          <a:prstGeom prst="line">
            <a:avLst/>
          </a:prstGeom>
          <a:ln w="31750">
            <a:solidFill>
              <a:srgbClr val="5FFF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775807" y="2606040"/>
            <a:ext cx="640080" cy="329184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FF6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75807" y="260604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6B9B"/>
                </a:solidFill>
                <a:latin typeface="Consolas"/>
              </a:rPr>
              <a:t>May 2-5
HOLIDAY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0" y="2770632"/>
            <a:ext cx="0" cy="0"/>
          </a:xfrm>
          <a:prstGeom prst="line">
            <a:avLst/>
          </a:prstGeom>
          <a:ln w="31750">
            <a:solidFill>
              <a:srgbClr val="A86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Triangle 42"/>
          <p:cNvSpPr/>
          <p:nvPr/>
        </p:nvSpPr>
        <p:spPr>
          <a:xfrm rot="5400000">
            <a:off x="11688775" y="2660904"/>
            <a:ext cx="164592" cy="219456"/>
          </a:xfrm>
          <a:prstGeom prst="rtTriangl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11480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587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FFFA6"/>
                </a:solidFill>
                <a:latin typeface="Consolas"/>
              </a:rPr>
              <a:t>Apr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Tue  ·  DONE</a:t>
            </a:r>
          </a:p>
        </p:txBody>
      </p:sp>
      <p:sp>
        <p:nvSpPr>
          <p:cNvPr id="47" name="Oval 46"/>
          <p:cNvSpPr/>
          <p:nvPr/>
        </p:nvSpPr>
        <p:spPr>
          <a:xfrm>
            <a:off x="1026013" y="2706624"/>
            <a:ext cx="128016" cy="128016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11480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P0 ~ P7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11480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1208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MVP bring-up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6072" y="4379976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0664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Investigation + tech blog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" y="4690872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0664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YAML configs (base / Flash / Pro)</a:t>
            </a:r>
          </a:p>
        </p:txBody>
      </p:sp>
      <p:sp>
        <p:nvSpPr>
          <p:cNvPr id="58" name="Oval 57"/>
          <p:cNvSpPr/>
          <p:nvPr/>
        </p:nvSpPr>
        <p:spPr>
          <a:xfrm>
            <a:off x="576072" y="5001768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0664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model_type dispatch + builder</a:t>
            </a:r>
          </a:p>
        </p:txBody>
      </p:sp>
      <p:sp>
        <p:nvSpPr>
          <p:cNvPr id="60" name="Oval 59"/>
          <p:cNvSpPr/>
          <p:nvPr/>
        </p:nvSpPr>
        <p:spPr>
          <a:xfrm>
            <a:off x="576072" y="5312664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HC + Hybrid Attn + MoE/MTP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" y="5623560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0664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1×8 PP=2 EP=4 BF16 smoke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41715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587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841715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FFFA6"/>
                </a:solidFill>
                <a:latin typeface="Consolas"/>
              </a:rPr>
              <a:t>Apr 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41715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Wed  ·  DONE</a:t>
            </a:r>
          </a:p>
        </p:txBody>
      </p:sp>
      <p:sp>
        <p:nvSpPr>
          <p:cNvPr id="67" name="Oval 66"/>
          <p:cNvSpPr/>
          <p:nvPr/>
        </p:nvSpPr>
        <p:spPr>
          <a:xfrm>
            <a:off x="2456249" y="2706624"/>
            <a:ext cx="128016" cy="128016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841715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41715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41715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841715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951443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ModuleSpec refactor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06307" y="4379976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70899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Spec-driven runtime path</a:t>
            </a:r>
          </a:p>
        </p:txBody>
      </p:sp>
      <p:sp>
        <p:nvSpPr>
          <p:cNvPr id="76" name="Oval 75"/>
          <p:cNvSpPr/>
          <p:nvPr/>
        </p:nvSpPr>
        <p:spPr>
          <a:xfrm>
            <a:off x="2006307" y="4690872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170899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DeepseekV4Model on LanguageModule</a:t>
            </a:r>
          </a:p>
        </p:txBody>
      </p:sp>
      <p:sp>
        <p:nvSpPr>
          <p:cNvPr id="78" name="Oval 77"/>
          <p:cNvSpPr/>
          <p:nvPr/>
        </p:nvSpPr>
        <p:spPr>
          <a:xfrm>
            <a:off x="2006307" y="5001768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170899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Builder routes V4 spec only</a:t>
            </a:r>
          </a:p>
        </p:txBody>
      </p:sp>
      <p:sp>
        <p:nvSpPr>
          <p:cNvPr id="80" name="Oval 79"/>
          <p:cNvSpPr/>
          <p:nvPr/>
        </p:nvSpPr>
        <p:spPr>
          <a:xfrm>
            <a:off x="2006307" y="5312664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170899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Retire GPT-placeholder swap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71951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587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271951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FFFA6"/>
                </a:solidFill>
                <a:latin typeface="Consolas"/>
              </a:rPr>
              <a:t>Apr 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1951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Thu  ·  DONE</a:t>
            </a:r>
          </a:p>
        </p:txBody>
      </p:sp>
      <p:sp>
        <p:nvSpPr>
          <p:cNvPr id="85" name="Oval 84"/>
          <p:cNvSpPr/>
          <p:nvPr/>
        </p:nvSpPr>
        <p:spPr>
          <a:xfrm>
            <a:off x="3886485" y="2706624"/>
            <a:ext cx="128016" cy="128016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3271951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71951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P9 ~ P10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71951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3271951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381679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TE provider + MoE bridge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3436543" y="4379976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601135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DeepSeekV4SpecProvider</a:t>
            </a:r>
          </a:p>
        </p:txBody>
      </p:sp>
      <p:sp>
        <p:nvSpPr>
          <p:cNvPr id="94" name="Oval 93"/>
          <p:cNvSpPr/>
          <p:nvPr/>
        </p:nvSpPr>
        <p:spPr>
          <a:xfrm>
            <a:off x="3436543" y="4690872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601135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Norm + projection providerized</a:t>
            </a:r>
          </a:p>
        </p:txBody>
      </p:sp>
      <p:sp>
        <p:nvSpPr>
          <p:cNvPr id="96" name="Oval 95"/>
          <p:cNvSpPr/>
          <p:nvPr/>
        </p:nvSpPr>
        <p:spPr>
          <a:xfrm>
            <a:off x="3436543" y="5001768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601135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MoE submodules + dispatcher</a:t>
            </a:r>
          </a:p>
        </p:txBody>
      </p:sp>
      <p:sp>
        <p:nvSpPr>
          <p:cNvPr id="98" name="Oval 97"/>
          <p:cNvSpPr/>
          <p:nvPr/>
        </p:nvSpPr>
        <p:spPr>
          <a:xfrm>
            <a:off x="3436543" y="5312664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01135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EP all-reduce fallback gated</a:t>
            </a:r>
          </a:p>
        </p:txBody>
      </p:sp>
      <p:sp>
        <p:nvSpPr>
          <p:cNvPr id="100" name="Oval 99"/>
          <p:cNvSpPr/>
          <p:nvPr/>
        </p:nvSpPr>
        <p:spPr>
          <a:xfrm>
            <a:off x="3436543" y="5623560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601135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A/B local↔TE forward report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702187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587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02187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FFFA6"/>
                </a:solidFill>
                <a:latin typeface="Consolas"/>
              </a:rPr>
              <a:t>May 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02187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Fri  ·  DONE</a:t>
            </a:r>
          </a:p>
        </p:txBody>
      </p:sp>
      <p:sp>
        <p:nvSpPr>
          <p:cNvPr id="105" name="Oval 104"/>
          <p:cNvSpPr/>
          <p:nvPr/>
        </p:nvSpPr>
        <p:spPr>
          <a:xfrm>
            <a:off x="5316721" y="2706624"/>
            <a:ext cx="128016" cy="128016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4702187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702187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P12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702187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4702187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811915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Plan-2 lockdown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4866779" y="4379976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31371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Architecture review</a:t>
            </a:r>
          </a:p>
        </p:txBody>
      </p:sp>
      <p:sp>
        <p:nvSpPr>
          <p:cNvPr id="114" name="Oval 113"/>
          <p:cNvSpPr/>
          <p:nvPr/>
        </p:nvSpPr>
        <p:spPr>
          <a:xfrm>
            <a:off x="4866779" y="4690872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031371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10 CRIT / 11 HIGH findings</a:t>
            </a:r>
          </a:p>
        </p:txBody>
      </p:sp>
      <p:sp>
        <p:nvSpPr>
          <p:cNvPr id="116" name="Oval 115"/>
          <p:cNvSpPr/>
          <p:nvPr/>
        </p:nvSpPr>
        <p:spPr>
          <a:xfrm>
            <a:off x="4866779" y="5001768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031371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plan-2/00..04 + README</a:t>
            </a:r>
          </a:p>
        </p:txBody>
      </p:sp>
      <p:sp>
        <p:nvSpPr>
          <p:cNvPr id="118" name="Oval 117"/>
          <p:cNvSpPr/>
          <p:nvPr/>
        </p:nvSpPr>
        <p:spPr>
          <a:xfrm>
            <a:off x="4866779" y="5312664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031371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status.md P12+ section</a:t>
            </a:r>
          </a:p>
        </p:txBody>
      </p:sp>
      <p:sp>
        <p:nvSpPr>
          <p:cNvPr id="120" name="Oval 119"/>
          <p:cNvSpPr/>
          <p:nvPr/>
        </p:nvSpPr>
        <p:spPr>
          <a:xfrm>
            <a:off x="4866779" y="5623560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031371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timeline.html + PPT roadmap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132423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11162A"/>
          </a:solidFill>
          <a:ln w="1587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132423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86BFF"/>
                </a:solidFill>
                <a:latin typeface="Consolas"/>
              </a:rPr>
              <a:t>May 06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32423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Tue  ·  PLAN</a:t>
            </a:r>
          </a:p>
        </p:txBody>
      </p:sp>
      <p:sp>
        <p:nvSpPr>
          <p:cNvPr id="125" name="Oval 124"/>
          <p:cNvSpPr/>
          <p:nvPr/>
        </p:nvSpPr>
        <p:spPr>
          <a:xfrm>
            <a:off x="6746957" y="2706624"/>
            <a:ext cx="128016" cy="128016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6132423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132423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P13 ~ P14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32423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6132423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242151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Faithful attn + MoE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6297015" y="437997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461607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DeepseekV4Attention(MLA)</a:t>
            </a:r>
          </a:p>
        </p:txBody>
      </p:sp>
      <p:sp>
        <p:nvSpPr>
          <p:cNvPr id="134" name="Oval 133"/>
          <p:cNvSpPr/>
          <p:nvPr/>
        </p:nvSpPr>
        <p:spPr>
          <a:xfrm>
            <a:off x="6297015" y="4690872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461607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Single-latent KV (wkv)</a:t>
            </a:r>
          </a:p>
        </p:txBody>
      </p:sp>
      <p:sp>
        <p:nvSpPr>
          <p:cNvPr id="136" name="Oval 135"/>
          <p:cNvSpPr/>
          <p:nvPr/>
        </p:nvSpPr>
        <p:spPr>
          <a:xfrm>
            <a:off x="6297015" y="500176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461607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q_norm / kv_norm / sink</a:t>
            </a:r>
          </a:p>
        </p:txBody>
      </p:sp>
      <p:sp>
        <p:nvSpPr>
          <p:cNvPr id="138" name="Oval 137"/>
          <p:cNvSpPr/>
          <p:nvPr/>
        </p:nvSpPr>
        <p:spPr>
          <a:xfrm>
            <a:off x="6297015" y="531266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461607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Grouped low-rank O proj</a:t>
            </a:r>
          </a:p>
        </p:txBody>
      </p:sp>
      <p:sp>
        <p:nvSpPr>
          <p:cNvPr id="140" name="Oval 139"/>
          <p:cNvSpPr/>
          <p:nvPr/>
        </p:nvSpPr>
        <p:spPr>
          <a:xfrm>
            <a:off x="6297015" y="5623560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461607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ClampedSwiGLU pre-mul</a:t>
            </a:r>
          </a:p>
        </p:txBody>
      </p:sp>
      <p:sp>
        <p:nvSpPr>
          <p:cNvPr id="142" name="Oval 141"/>
          <p:cNvSpPr/>
          <p:nvPr/>
        </p:nvSpPr>
        <p:spPr>
          <a:xfrm>
            <a:off x="6297015" y="593445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461607" y="587959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Hash + learned routers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62659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11162A"/>
          </a:solidFill>
          <a:ln w="1587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562659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86BFF"/>
                </a:solidFill>
                <a:latin typeface="Consolas"/>
              </a:rPr>
              <a:t>May 07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562659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Wed  ·  PLAN</a:t>
            </a:r>
          </a:p>
        </p:txBody>
      </p:sp>
      <p:sp>
        <p:nvSpPr>
          <p:cNvPr id="147" name="Oval 146"/>
          <p:cNvSpPr/>
          <p:nvPr/>
        </p:nvSpPr>
        <p:spPr>
          <a:xfrm>
            <a:off x="8177193" y="2706624"/>
            <a:ext cx="128016" cy="128016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7562659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562659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P15 ~ P16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62659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7562659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672387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Layer/Block/HC×PP + MTP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7727251" y="437997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891843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DeepseekV4HybridLayer(TL)</a:t>
            </a:r>
          </a:p>
        </p:txBody>
      </p:sp>
      <p:sp>
        <p:nvSpPr>
          <p:cNvPr id="156" name="Oval 155"/>
          <p:cNvSpPr/>
          <p:nvPr/>
        </p:nvSpPr>
        <p:spPr>
          <a:xfrm>
            <a:off x="7727251" y="4690872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891843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DeepseekV4Block(TB)</a:t>
            </a:r>
          </a:p>
        </p:txBody>
      </p:sp>
      <p:sp>
        <p:nvSpPr>
          <p:cNvPr id="158" name="Oval 157"/>
          <p:cNvSpPr/>
          <p:nvPr/>
        </p:nvSpPr>
        <p:spPr>
          <a:xfrm>
            <a:off x="7727251" y="500176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891843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[S,B,K,D] PP packing</a:t>
            </a:r>
          </a:p>
        </p:txBody>
      </p:sp>
      <p:sp>
        <p:nvSpPr>
          <p:cNvPr id="160" name="Oval 159"/>
          <p:cNvSpPr/>
          <p:nvPr/>
        </p:nvSpPr>
        <p:spPr>
          <a:xfrm>
            <a:off x="7727251" y="531266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891843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HyperHead on post_process</a:t>
            </a:r>
          </a:p>
        </p:txBody>
      </p:sp>
      <p:sp>
        <p:nvSpPr>
          <p:cNvPr id="162" name="Oval 161"/>
          <p:cNvSpPr/>
          <p:nvPr/>
        </p:nvSpPr>
        <p:spPr>
          <a:xfrm>
            <a:off x="7727251" y="5623560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891843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MultiTokenPredictionBlock</a:t>
            </a:r>
          </a:p>
        </p:txBody>
      </p:sp>
      <p:sp>
        <p:nvSpPr>
          <p:cNvPr id="164" name="Oval 163"/>
          <p:cNvSpPr/>
          <p:nvPr/>
        </p:nvSpPr>
        <p:spPr>
          <a:xfrm>
            <a:off x="7727251" y="593445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891843" y="587959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process_mtp_loss wired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992895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11162A"/>
          </a:solidFill>
          <a:ln w="1587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8992895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86BFF"/>
                </a:solidFill>
                <a:latin typeface="Consolas"/>
              </a:rPr>
              <a:t>May 08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992895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Thu  ·  PLAN</a:t>
            </a:r>
          </a:p>
        </p:txBody>
      </p:sp>
      <p:sp>
        <p:nvSpPr>
          <p:cNvPr id="169" name="Oval 168"/>
          <p:cNvSpPr/>
          <p:nvPr/>
        </p:nvSpPr>
        <p:spPr>
          <a:xfrm>
            <a:off x="9607429" y="2706624"/>
            <a:ext cx="128016" cy="128016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8992895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992895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P17 ~ P18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992895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8992895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102623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Checkpoint + spec audit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9157487" y="437997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22079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HF→Primus state-dict map</a:t>
            </a:r>
          </a:p>
        </p:txBody>
      </p:sp>
      <p:sp>
        <p:nvSpPr>
          <p:cNvPr id="178" name="Oval 177"/>
          <p:cNvSpPr/>
          <p:nvPr/>
        </p:nvSpPr>
        <p:spPr>
          <a:xfrm>
            <a:off x="9157487" y="4690872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9322079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load_v4_flash_check.py</a:t>
            </a:r>
          </a:p>
        </p:txBody>
      </p:sp>
      <p:sp>
        <p:nvSpPr>
          <p:cNvPr id="180" name="Oval 179"/>
          <p:cNvSpPr/>
          <p:nvPr/>
        </p:nvSpPr>
        <p:spPr>
          <a:xfrm>
            <a:off x="9157487" y="500176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9322079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tid2eid as buffer</a:t>
            </a:r>
          </a:p>
        </p:txBody>
      </p:sp>
      <p:sp>
        <p:nvSpPr>
          <p:cNvPr id="182" name="Oval 181"/>
          <p:cNvSpPr/>
          <p:nvPr/>
        </p:nvSpPr>
        <p:spPr>
          <a:xfrm>
            <a:off x="9157487" y="531266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322079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Round-trip + token-0 align</a:t>
            </a:r>
          </a:p>
        </p:txBody>
      </p:sp>
      <p:sp>
        <p:nvSpPr>
          <p:cNvPr id="184" name="Oval 183"/>
          <p:cNvSpPr/>
          <p:nvPr/>
        </p:nvSpPr>
        <p:spPr>
          <a:xfrm>
            <a:off x="9157487" y="5623560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9322079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Provider per build call</a:t>
            </a:r>
          </a:p>
        </p:txBody>
      </p:sp>
      <p:sp>
        <p:nvSpPr>
          <p:cNvPr id="186" name="Oval 185"/>
          <p:cNvSpPr/>
          <p:nvPr/>
        </p:nvSpPr>
        <p:spPr>
          <a:xfrm>
            <a:off x="9157487" y="593445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22079" y="587959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compress_ratios → list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0423131" y="2103120"/>
            <a:ext cx="1357083" cy="502920"/>
          </a:xfrm>
          <a:prstGeom prst="roundRect">
            <a:avLst>
              <a:gd name="adj" fmla="val 15000"/>
            </a:avLst>
          </a:prstGeom>
          <a:solidFill>
            <a:srgbClr val="11162A"/>
          </a:solidFill>
          <a:ln w="15875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10423131" y="2148840"/>
            <a:ext cx="13570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B46B"/>
                </a:solidFill>
                <a:latin typeface="Consolas"/>
              </a:rPr>
              <a:t>May 09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423131" y="2377440"/>
            <a:ext cx="13570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688"/>
                </a:solidFill>
                <a:latin typeface="Consolas"/>
              </a:rPr>
              <a:t>Fri  ·  PLAN</a:t>
            </a:r>
          </a:p>
        </p:txBody>
      </p:sp>
      <p:sp>
        <p:nvSpPr>
          <p:cNvPr id="191" name="Oval 190"/>
          <p:cNvSpPr/>
          <p:nvPr/>
        </p:nvSpPr>
        <p:spPr>
          <a:xfrm>
            <a:off x="11037665" y="2706624"/>
            <a:ext cx="128016" cy="128016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10423131" y="3017520"/>
            <a:ext cx="1357083" cy="411480"/>
          </a:xfrm>
          <a:prstGeom prst="roundRect">
            <a:avLst>
              <a:gd name="adj" fmla="val 40000"/>
            </a:avLst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10423131" y="3017520"/>
            <a:ext cx="135708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Consolas"/>
              </a:rPr>
              <a:t>P19 ~ P21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423131" y="3611880"/>
            <a:ext cx="1357083" cy="283464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ounded Rectangle 194"/>
          <p:cNvSpPr/>
          <p:nvPr/>
        </p:nvSpPr>
        <p:spPr>
          <a:xfrm>
            <a:off x="10423131" y="3611880"/>
            <a:ext cx="1357083" cy="54864"/>
          </a:xfrm>
          <a:prstGeom prst="roundRect">
            <a:avLst>
              <a:gd name="adj" fmla="val 5000"/>
            </a:avLst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0532859" y="3776472"/>
            <a:ext cx="1137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3E8FA"/>
                </a:solidFill>
                <a:latin typeface="Inter"/>
              </a:rPr>
              <a:t>Validation + release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0" y="4206240"/>
            <a:ext cx="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10587723" y="4379976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0752315" y="432511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TP/PP/EP smoke grid</a:t>
            </a:r>
          </a:p>
        </p:txBody>
      </p:sp>
      <p:sp>
        <p:nvSpPr>
          <p:cNvPr id="200" name="Oval 199"/>
          <p:cNvSpPr/>
          <p:nvPr/>
        </p:nvSpPr>
        <p:spPr>
          <a:xfrm>
            <a:off x="10587723" y="4690872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10752315" y="4636008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Routing snapshot diff = 0</a:t>
            </a:r>
          </a:p>
        </p:txBody>
      </p:sp>
      <p:sp>
        <p:nvSpPr>
          <p:cNvPr id="202" name="Oval 201"/>
          <p:cNvSpPr/>
          <p:nvPr/>
        </p:nvSpPr>
        <p:spPr>
          <a:xfrm>
            <a:off x="10587723" y="5001768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10752315" y="4946904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G9 numerical alignment</a:t>
            </a:r>
          </a:p>
        </p:txBody>
      </p:sp>
      <p:sp>
        <p:nvSpPr>
          <p:cNvPr id="204" name="Oval 203"/>
          <p:cNvSpPr/>
          <p:nvPr/>
        </p:nvSpPr>
        <p:spPr>
          <a:xfrm>
            <a:off x="10587723" y="5312664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10752315" y="5257800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200-step convergence vs HF</a:t>
            </a:r>
          </a:p>
        </p:txBody>
      </p:sp>
      <p:sp>
        <p:nvSpPr>
          <p:cNvPr id="206" name="Oval 205"/>
          <p:cNvSpPr/>
          <p:nvPr/>
        </p:nvSpPr>
        <p:spPr>
          <a:xfrm>
            <a:off x="10587723" y="5623560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10752315" y="5568696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TE on/off perf report</a:t>
            </a:r>
          </a:p>
        </p:txBody>
      </p:sp>
      <p:sp>
        <p:nvSpPr>
          <p:cNvPr id="208" name="Oval 207"/>
          <p:cNvSpPr/>
          <p:nvPr/>
        </p:nvSpPr>
        <p:spPr>
          <a:xfrm>
            <a:off x="10587723" y="5934456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0752315" y="5879592"/>
            <a:ext cx="89988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6A1C4"/>
                </a:solidFill>
                <a:latin typeface="Inter"/>
              </a:rPr>
              <a:t>Cleanup + tag + handover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11480" y="1828800"/>
            <a:ext cx="56477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Consolas"/>
              </a:rPr>
              <a:t>BLOCK A · Apr 28 → May 01  ·  4 days  ·  landed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132423" y="1828800"/>
            <a:ext cx="56477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Consolas"/>
              </a:rPr>
              <a:t>BLOCK B · May 06 → May 09  ·  4 days  ·  plan-2 execution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08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01 · EXECUTIVE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Three plans, one model, one 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Where we have been, where we are, and what plan-2 must deliver.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205740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2057400"/>
            <a:ext cx="73152" cy="4023360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77240" y="2286000"/>
            <a:ext cx="8686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2288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PLAN-0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88"/>
                </a:solidFill>
                <a:latin typeface="JetBrains Mono"/>
              </a:rPr>
              <a:t>P0 → P7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26517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3E8FA"/>
                </a:solidFill>
                <a:latin typeface="Inter"/>
              </a:rPr>
              <a:t>Bring-up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32004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3566160"/>
            <a:ext cx="310896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22960" y="3813048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37490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Architecture investigation</a:t>
            </a:r>
          </a:p>
        </p:txBody>
      </p:sp>
      <p:sp>
        <p:nvSpPr>
          <p:cNvPr id="49" name="Oval 48"/>
          <p:cNvSpPr/>
          <p:nvPr/>
        </p:nvSpPr>
        <p:spPr>
          <a:xfrm>
            <a:off x="822960" y="4105656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1560" y="404164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YAML configs (Flash / Pro)</a:t>
            </a:r>
          </a:p>
        </p:txBody>
      </p:sp>
      <p:sp>
        <p:nvSpPr>
          <p:cNvPr id="51" name="Oval 50"/>
          <p:cNvSpPr/>
          <p:nvPr/>
        </p:nvSpPr>
        <p:spPr>
          <a:xfrm>
            <a:off x="822960" y="4398264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1560" y="433425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model_type dispatch in trainer</a:t>
            </a:r>
          </a:p>
        </p:txBody>
      </p:sp>
      <p:sp>
        <p:nvSpPr>
          <p:cNvPr id="53" name="Oval 52"/>
          <p:cNvSpPr/>
          <p:nvPr/>
        </p:nvSpPr>
        <p:spPr>
          <a:xfrm>
            <a:off x="822960" y="4690872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1560" y="4626864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Initial layer specs / block</a:t>
            </a:r>
          </a:p>
        </p:txBody>
      </p:sp>
      <p:sp>
        <p:nvSpPr>
          <p:cNvPr id="55" name="Oval 54"/>
          <p:cNvSpPr/>
          <p:nvPr/>
        </p:nvSpPr>
        <p:spPr>
          <a:xfrm>
            <a:off x="822960" y="4983480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1560" y="491947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HC + hybrid attention scaffold</a:t>
            </a:r>
          </a:p>
        </p:txBody>
      </p:sp>
      <p:sp>
        <p:nvSpPr>
          <p:cNvPr id="57" name="Oval 56"/>
          <p:cNvSpPr/>
          <p:nvPr/>
        </p:nvSpPr>
        <p:spPr>
          <a:xfrm>
            <a:off x="822960" y="5276088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52120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MoE / activation / RoPE / MTP</a:t>
            </a:r>
          </a:p>
        </p:txBody>
      </p:sp>
      <p:sp>
        <p:nvSpPr>
          <p:cNvPr id="59" name="Oval 58"/>
          <p:cNvSpPr/>
          <p:nvPr/>
        </p:nvSpPr>
        <p:spPr>
          <a:xfrm>
            <a:off x="822960" y="5568696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1560" y="550468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Single-node smoke runnable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79392" y="205740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79392" y="2057400"/>
            <a:ext cx="73152" cy="4023360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553712" y="2286000"/>
            <a:ext cx="8686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53712" y="2288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PLAN-1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9552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88"/>
                </a:solidFill>
                <a:latin typeface="JetBrains Mono"/>
              </a:rPr>
              <a:t>P8 → P11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53712" y="26517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3E8FA"/>
                </a:solidFill>
                <a:latin typeface="Inter"/>
              </a:rPr>
              <a:t>ModuleSpec convergence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32004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BFF"/>
                </a:solidFill>
                <a:latin typeface="JetBrains Mono"/>
              </a:rPr>
              <a:t>PARTIAL · PAUSED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553712" y="3566160"/>
            <a:ext cx="310896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599432" y="381304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28032" y="37490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Spec/provider refactor (P9) ✓</a:t>
            </a:r>
          </a:p>
        </p:txBody>
      </p:sp>
      <p:sp>
        <p:nvSpPr>
          <p:cNvPr id="71" name="Oval 70"/>
          <p:cNvSpPr/>
          <p:nvPr/>
        </p:nvSpPr>
        <p:spPr>
          <a:xfrm>
            <a:off x="4599432" y="410565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28032" y="404164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TE / Turbo provider reuse (P10) ✓</a:t>
            </a:r>
          </a:p>
        </p:txBody>
      </p:sp>
      <p:sp>
        <p:nvSpPr>
          <p:cNvPr id="73" name="Oval 72"/>
          <p:cNvSpPr/>
          <p:nvPr/>
        </p:nvSpPr>
        <p:spPr>
          <a:xfrm>
            <a:off x="4599432" y="439826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28032" y="433425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MoE distributed convergence (P11) –</a:t>
            </a:r>
          </a:p>
        </p:txBody>
      </p:sp>
      <p:sp>
        <p:nvSpPr>
          <p:cNvPr id="75" name="Oval 74"/>
          <p:cNvSpPr/>
          <p:nvPr/>
        </p:nvSpPr>
        <p:spPr>
          <a:xfrm>
            <a:off x="4599432" y="4690872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28032" y="4626864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Hash router still reinvented</a:t>
            </a:r>
          </a:p>
        </p:txBody>
      </p:sp>
      <p:sp>
        <p:nvSpPr>
          <p:cNvPr id="77" name="Oval 76"/>
          <p:cNvSpPr/>
          <p:nvPr/>
        </p:nvSpPr>
        <p:spPr>
          <a:xfrm>
            <a:off x="4599432" y="4983480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28032" y="491947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Attention still nn.Module</a:t>
            </a:r>
          </a:p>
        </p:txBody>
      </p:sp>
      <p:sp>
        <p:nvSpPr>
          <p:cNvPr id="79" name="Oval 78"/>
          <p:cNvSpPr/>
          <p:nvPr/>
        </p:nvSpPr>
        <p:spPr>
          <a:xfrm>
            <a:off x="4599432" y="527608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28032" y="52120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No state-dict adapter</a:t>
            </a:r>
          </a:p>
        </p:txBody>
      </p:sp>
      <p:sp>
        <p:nvSpPr>
          <p:cNvPr id="81" name="Oval 80"/>
          <p:cNvSpPr/>
          <p:nvPr/>
        </p:nvSpPr>
        <p:spPr>
          <a:xfrm>
            <a:off x="4599432" y="556869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828032" y="550468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Real V4 parity NOT achieved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55864" y="205740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055864" y="2057400"/>
            <a:ext cx="73152" cy="4023360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330184" y="2286000"/>
            <a:ext cx="8686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30184" y="2288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4DDCFF"/>
                </a:solidFill>
                <a:latin typeface="JetBrains Mono"/>
              </a:rPr>
              <a:t>PLAN-2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36024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88"/>
                </a:solidFill>
                <a:latin typeface="JetBrains Mono"/>
              </a:rPr>
              <a:t>P12 → P21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30184" y="26517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3E8FA"/>
                </a:solidFill>
                <a:latin typeface="Inter"/>
              </a:rPr>
              <a:t>Architecture-faithful rewrite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30184" y="32004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ACTIVE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330184" y="3566160"/>
            <a:ext cx="310896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375904" y="3813048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04504" y="37490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Rebase on MLASelfAttention</a:t>
            </a:r>
          </a:p>
        </p:txBody>
      </p:sp>
      <p:sp>
        <p:nvSpPr>
          <p:cNvPr id="93" name="Oval 92"/>
          <p:cNvSpPr/>
          <p:nvPr/>
        </p:nvSpPr>
        <p:spPr>
          <a:xfrm>
            <a:off x="8375904" y="4105656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604504" y="404164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TransformerLayer / Block reuse</a:t>
            </a:r>
          </a:p>
        </p:txBody>
      </p:sp>
      <p:sp>
        <p:nvSpPr>
          <p:cNvPr id="95" name="Oval 94"/>
          <p:cNvSpPr/>
          <p:nvPr/>
        </p:nvSpPr>
        <p:spPr>
          <a:xfrm>
            <a:off x="8375904" y="4398264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604504" y="433425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MoELayer / TopKRouter reuse</a:t>
            </a:r>
          </a:p>
        </p:txBody>
      </p:sp>
      <p:sp>
        <p:nvSpPr>
          <p:cNvPr id="97" name="Oval 96"/>
          <p:cNvSpPr/>
          <p:nvPr/>
        </p:nvSpPr>
        <p:spPr>
          <a:xfrm>
            <a:off x="8375904" y="4690872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604504" y="4626864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MultiTokenPredictionBlock reuse</a:t>
            </a:r>
          </a:p>
        </p:txBody>
      </p:sp>
      <p:sp>
        <p:nvSpPr>
          <p:cNvPr id="99" name="Oval 98"/>
          <p:cNvSpPr/>
          <p:nvPr/>
        </p:nvSpPr>
        <p:spPr>
          <a:xfrm>
            <a:off x="8375904" y="4983480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604504" y="491947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Faithful HC with PP-aware fix</a:t>
            </a:r>
          </a:p>
        </p:txBody>
      </p:sp>
      <p:sp>
        <p:nvSpPr>
          <p:cNvPr id="101" name="Oval 100"/>
          <p:cNvSpPr/>
          <p:nvPr/>
        </p:nvSpPr>
        <p:spPr>
          <a:xfrm>
            <a:off x="8375904" y="5276088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604504" y="52120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State-dict adapter (HF → primus)</a:t>
            </a:r>
          </a:p>
        </p:txBody>
      </p:sp>
      <p:sp>
        <p:nvSpPr>
          <p:cNvPr id="103" name="Oval 102"/>
          <p:cNvSpPr/>
          <p:nvPr/>
        </p:nvSpPr>
        <p:spPr>
          <a:xfrm>
            <a:off x="8375904" y="5568696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604504" y="550468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Numerical alignment release gate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2920" y="61539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46B"/>
                </a:solidFill>
                <a:latin typeface="JetBrains Mono"/>
              </a:rPr>
              <a:t>P0 – P11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63040" y="6217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Phases shipped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17480" y="61539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6BFF"/>
                </a:solidFill>
                <a:latin typeface="JetBrains Mono"/>
              </a:rPr>
              <a:t>P12 – P21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77600" y="6217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Phases re-planned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932040" y="61539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D224D"/>
                </a:solidFill>
                <a:latin typeface="JetBrains Mono"/>
              </a:rPr>
              <a:t>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92160" y="6217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CRIT findings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46600" y="61539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6B9B"/>
                </a:solidFill>
                <a:latin typeface="JetBrains Mono"/>
              </a:rPr>
              <a:t>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06720" y="6217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HIGH findings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61160" y="61539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FFFA6"/>
                </a:solidFill>
                <a:latin typeface="JetBrains Mono"/>
              </a:rPr>
              <a:t>+8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21280" y="6217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Reused MCore modules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02 · WHAT MAKES DEEPSEEK-V4 HARD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The architectural surface we must reproduce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Six axes where V4 diverges from a vanilla MoE transformer.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2057400"/>
            <a:ext cx="3703320" cy="196596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2240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86BFF"/>
                </a:solidFill>
                <a:latin typeface="JetBrains Mono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E8FA"/>
                </a:solidFill>
                <a:latin typeface="Inter"/>
              </a:rPr>
              <a:t>Hyper-Connections (HC)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292608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K parallel residual streams with a learnable Sinkhorn-normalised mixer per layer. Splits input into K paths, mixes after each block, collapses at the head.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57400"/>
            <a:ext cx="73152" cy="1965960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343400" y="2057400"/>
            <a:ext cx="3703320" cy="196596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17720" y="2240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DDCFF"/>
                </a:solidFill>
                <a:latin typeface="JetBrains Mono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E8FA"/>
                </a:solidFill>
                <a:latin typeface="Inter"/>
              </a:rPr>
              <a:t>Hybrid Attention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92608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Mix of Dense / Compressed-Sparse Attn (CSA) / Heavily-Compressed Attn (HCA). Single-latent KV (K=V), per-head q_norm + kv_norm, grouped low-rank 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2057400"/>
            <a:ext cx="73152" cy="1965960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183880" y="2057400"/>
            <a:ext cx="3703320" cy="196596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22402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5FFFA6"/>
                </a:solidFill>
                <a:latin typeface="JetBrains Mono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E8FA"/>
                </a:solidFill>
                <a:latin typeface="Inter"/>
              </a:rPr>
              <a:t>MoE: Hash + Learned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292608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Hash router for some layers, learnable router with sqrtsoftplus / sigmoid / softmax score for others. Shared experts, expert bias, Megatron MoE dispatch.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80" y="2057400"/>
            <a:ext cx="73152" cy="1965960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02920" y="4160520"/>
            <a:ext cx="3703320" cy="196596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4343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B46B"/>
                </a:solidFill>
                <a:latin typeface="JetBrains Mono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0200" y="43891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E8FA"/>
                </a:solidFill>
                <a:latin typeface="Inter"/>
              </a:rPr>
              <a:t>Clamped SwiGLU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02920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PRE-multiplication clamp on silu(gate) and up before the elementwise multiply (not post-mul). Distinct w1 / w3 weights — no fused gate-up.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60520"/>
            <a:ext cx="73152" cy="1965960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343400" y="4160520"/>
            <a:ext cx="3703320" cy="196596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17720" y="4343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6B9B"/>
                </a:solidFill>
                <a:latin typeface="JetBrains Mono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0680" y="43891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E8FA"/>
                </a:solidFill>
                <a:latin typeface="Inter"/>
              </a:rPr>
              <a:t>Dual-RoPE + YaRN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502920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Two RoPE caches (main, compress) with different theta, partial-RoPE on first dim, YaRN scaling on the compressed path.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4160520"/>
            <a:ext cx="73152" cy="1965960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183880" y="4160520"/>
            <a:ext cx="3703320" cy="1965960"/>
          </a:xfrm>
          <a:prstGeom prst="roundRect">
            <a:avLst>
              <a:gd name="adj" fmla="val 5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58200" y="4343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4DDCFF"/>
                </a:solidFill>
                <a:latin typeface="JetBrains Mono"/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43891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E8FA"/>
                </a:solidFill>
                <a:latin typeface="Inter"/>
              </a:rPr>
              <a:t>Multi-Token Prediction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502920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Auxiliary lookahead heads on top of the main decoder. Must reuse Megatron's MultiTokenPredictionBlock for PP / loss / activation checkpointing.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80" y="4160520"/>
            <a:ext cx="73152" cy="1965960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03 · CODE REVIEW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What's wrong on dev/wenx/deepseek-v4 today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Severity-ranked findings from the e194e039..HEAD review.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1965960"/>
            <a:ext cx="6400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D2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19679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D224D"/>
                </a:solidFill>
                <a:latin typeface="JetBrains Mono"/>
              </a:rPr>
              <a:t>CRIT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19842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Architecture diverges from real V4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1965960"/>
            <a:ext cx="6400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6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19679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19842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Distributed / spec correctness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1965960"/>
            <a:ext cx="6400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0760" y="19679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19842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Megatron reuse / hygiene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1965960"/>
            <a:ext cx="6400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19679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19842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Style / docs / coverage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468880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2920" y="2468880"/>
            <a:ext cx="54864" cy="347472"/>
          </a:xfrm>
          <a:prstGeom prst="rect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2514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A1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2514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D224D"/>
                </a:solidFill>
                <a:latin typeface="JetBrains Mono"/>
              </a:rPr>
              <a:t>CRIT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45920" y="251460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Attention uses separate K/V projections (real V4 has single wkv = single-latent MQA).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2862072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2920" y="2862072"/>
            <a:ext cx="54864" cy="347472"/>
          </a:xfrm>
          <a:prstGeom prst="rect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29077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A2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29077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D224D"/>
                </a:solidFill>
                <a:latin typeface="JetBrains Mono"/>
              </a:rPr>
              <a:t>CRIT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20" y="2907792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Missing per-head q_norm / kv_norm RMSNorms after the low-rank projections.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3255264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02920" y="3255264"/>
            <a:ext cx="54864" cy="347472"/>
          </a:xfrm>
          <a:prstGeom prst="rect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7512" y="3300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A3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" y="330098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D224D"/>
                </a:solidFill>
                <a:latin typeface="JetBrains Mono"/>
              </a:rPr>
              <a:t>CRIT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45920" y="330098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HashRouter has no learnable gate weight; outputs uniform 1/topk instead of learned scores.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3648456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02920" y="3648456"/>
            <a:ext cx="54864" cy="347472"/>
          </a:xfrm>
          <a:prstGeom prst="rect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7512" y="36941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A4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" y="36941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D224D"/>
                </a:solidFill>
                <a:latin typeface="JetBrains Mono"/>
              </a:rPr>
              <a:t>CRIT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0" y="369417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Clamped SwiGLU clamps post-mul — real V4 clamps pre-mul on silu(gate) and up.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4041648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02920" y="4041648"/>
            <a:ext cx="54864" cy="347472"/>
          </a:xfrm>
          <a:prstGeom prst="rect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67512" y="40873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A5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" y="40873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D224D"/>
                </a:solidFill>
                <a:latin typeface="JetBrains Mono"/>
              </a:rPr>
              <a:t>CRIT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45920" y="408736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No state-dict adapter — official HF / V4-Flash checkpoints cannot be loaded.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4434840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02920" y="4434840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7512" y="4480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A6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" y="4480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45920" y="448056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HCAAttention RoPE: position_id calculation for compressed layers is off.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4828032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02920" y="4828032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7512" y="48737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B1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" y="48737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45920" y="4873752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DeepseekV4Attention is plain nn.Module, not a MLASelfAttention subclass.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2920" y="5221224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02920" y="5221224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67512" y="52669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B2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" y="526694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45920" y="526694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DeepseekV4TransformerBlock does not subclass TransformerBlock.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02920" y="5614416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02920" y="5614416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67512" y="56601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B3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" y="56601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566013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DeepseekV4HybridLayer does not subclass TransformerLayer.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09360" y="2468880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309360" y="2468880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73952" y="2514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B4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0" y="2514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52360" y="251460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DeepseekV4MoE does not subclass MoELayer; reinvents dispatch wiring.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9360" y="2862072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6309360" y="2862072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473952" y="29077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C1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0" y="29077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52360" y="2907792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HC × PP: HyperHead applied per stage, destroys K-stream context across PP boundary.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309360" y="3255264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309360" y="3255264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73952" y="3300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C2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0" y="330098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6B9B"/>
                </a:solidFill>
                <a:latin typeface="JetBrains Mono"/>
              </a:rPr>
              <a:t>HIGH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52360" y="330098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Token-IDs stashed on decoder._v4_token_ids — breaks PP, leaks stale state.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309360" y="3648456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309360" y="3648456"/>
            <a:ext cx="54864" cy="347472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473952" y="36941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C3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0" y="36941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46B"/>
                </a:solidFill>
                <a:latin typeface="JetBrains Mono"/>
              </a:rPr>
              <a:t>MED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52360" y="369417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Position IDs faked internally; caller-supplied position_ids ignored.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4041648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309360" y="4041648"/>
            <a:ext cx="54864" cy="347472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73952" y="40873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C4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40873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46B"/>
                </a:solidFill>
                <a:latin typeface="JetBrains Mono"/>
              </a:rPr>
              <a:t>MED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52360" y="408736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TP partitioning of attention low-rank uses 'duplicated' instead of sharded.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09360" y="4434840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309360" y="4434840"/>
            <a:ext cx="54864" cy="347472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473952" y="4480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D1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0" y="4480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46B"/>
                </a:solidFill>
                <a:latin typeface="JetBrains Mono"/>
              </a:rPr>
              <a:t>MED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52360" y="448056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Compressor / Indexer / DualRoPE not expressed as spec submodules.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09360" y="4828032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309360" y="4828032"/>
            <a:ext cx="54864" cy="347472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473952" y="48737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D2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58000" y="48737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B46B"/>
                </a:solidFill>
                <a:latin typeface="JetBrains Mono"/>
              </a:rPr>
              <a:t>MED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52360" y="4873752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MTP bypasses MultiTokenPredictionBlock; reimplements PP-incompatible variant.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21224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309360" y="5221224"/>
            <a:ext cx="54864" cy="347472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473952" y="52669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E1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0" y="526694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FFFA6"/>
                </a:solidFill>
                <a:latin typeface="JetBrains Mono"/>
              </a:rPr>
              <a:t>LOW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52360" y="526694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compress_ratios stored as string in YAML, parsed by ast.literal_eval.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309360" y="5614416"/>
            <a:ext cx="5577840" cy="347472"/>
          </a:xfrm>
          <a:prstGeom prst="roundRect">
            <a:avLst>
              <a:gd name="adj" fmla="val 2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309360" y="5614416"/>
            <a:ext cx="54864" cy="347472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473952" y="56601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E2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58000" y="56601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FFFA6"/>
                </a:solidFill>
                <a:latin typeface="JetBrains Mono"/>
              </a:rPr>
              <a:t>LOW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52360" y="566013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E8FA"/>
                </a:solidFill>
                <a:latin typeface="Inter"/>
              </a:rPr>
              <a:t>No numerical alignment harness vs HF or NeMo reference.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04 · PLAN-2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Three pillars: faithful · native · verifiable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Reuse Megatron, parity with reference, gated by numerical tests.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2103120"/>
            <a:ext cx="3703320" cy="36576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23317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4DDCFF"/>
                </a:solidFill>
                <a:latin typeface="JetBrains Mono"/>
              </a:rPr>
              <a:t>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2103120"/>
            <a:ext cx="73152" cy="3657600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352044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3E8FA"/>
                </a:solidFill>
                <a:latin typeface="Inter"/>
              </a:rPr>
              <a:t>Megatron-Native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3977639"/>
            <a:ext cx="315468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822960" y="4178808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1560" y="411480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Subclass MLASelfAttention, TransformerLayer,</a:t>
            </a:r>
          </a:p>
        </p:txBody>
      </p:sp>
      <p:sp>
        <p:nvSpPr>
          <p:cNvPr id="46" name="Oval 45"/>
          <p:cNvSpPr/>
          <p:nvPr/>
        </p:nvSpPr>
        <p:spPr>
          <a:xfrm>
            <a:off x="822960" y="4471416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1560" y="440740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TransformerBlock, MoELayer, TopKRouter,</a:t>
            </a:r>
          </a:p>
        </p:txBody>
      </p:sp>
      <p:sp>
        <p:nvSpPr>
          <p:cNvPr id="48" name="Oval 47"/>
          <p:cNvSpPr/>
          <p:nvPr/>
        </p:nvSpPr>
        <p:spPr>
          <a:xfrm>
            <a:off x="822960" y="4764024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470001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MultiTokenPredictionBlock, YarnRotaryEmbedding.</a:t>
            </a:r>
          </a:p>
        </p:txBody>
      </p:sp>
      <p:sp>
        <p:nvSpPr>
          <p:cNvPr id="50" name="Oval 49"/>
          <p:cNvSpPr/>
          <p:nvPr/>
        </p:nvSpPr>
        <p:spPr>
          <a:xfrm>
            <a:off x="822960" y="5056632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51560" y="4992624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Express V4 extensions as ModuleSpec submodules:</a:t>
            </a:r>
          </a:p>
        </p:txBody>
      </p:sp>
      <p:sp>
        <p:nvSpPr>
          <p:cNvPr id="52" name="Oval 51"/>
          <p:cNvSpPr/>
          <p:nvPr/>
        </p:nvSpPr>
        <p:spPr>
          <a:xfrm>
            <a:off x="822960" y="5349240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1560" y="5285232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Compressor / Indexer / DualRoPE / HyperMixer.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25112" y="2103120"/>
            <a:ext cx="3703320" cy="36576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9432" y="23317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A86BFF"/>
                </a:solidFill>
                <a:latin typeface="JetBrains Mono"/>
              </a:rPr>
              <a:t>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5112" y="2103120"/>
            <a:ext cx="73152" cy="3657600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99432" y="352044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3E8FA"/>
                </a:solidFill>
                <a:latin typeface="Inter"/>
              </a:rPr>
              <a:t>Architecture-Faithful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99432" y="3977639"/>
            <a:ext cx="315468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645152" y="417880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73752" y="411480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Single-latent KV (wkv), per-head q/kv_norm, </a:t>
            </a:r>
          </a:p>
        </p:txBody>
      </p:sp>
      <p:sp>
        <p:nvSpPr>
          <p:cNvPr id="61" name="Oval 60"/>
          <p:cNvSpPr/>
          <p:nvPr/>
        </p:nvSpPr>
        <p:spPr>
          <a:xfrm>
            <a:off x="4645152" y="447141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73752" y="440740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grouped low-rank O, attention-sink scalar.</a:t>
            </a:r>
          </a:p>
        </p:txBody>
      </p:sp>
      <p:sp>
        <p:nvSpPr>
          <p:cNvPr id="63" name="Oval 62"/>
          <p:cNvSpPr/>
          <p:nvPr/>
        </p:nvSpPr>
        <p:spPr>
          <a:xfrm>
            <a:off x="4645152" y="476402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73752" y="470001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HashRouter as a TopKRouter with frozen gate.</a:t>
            </a:r>
          </a:p>
        </p:txBody>
      </p:sp>
      <p:sp>
        <p:nvSpPr>
          <p:cNvPr id="65" name="Oval 64"/>
          <p:cNvSpPr/>
          <p:nvPr/>
        </p:nvSpPr>
        <p:spPr>
          <a:xfrm>
            <a:off x="4645152" y="5056632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873752" y="4992624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Pre-mul clamping for SwiGLU; w1/w3 unfused.</a:t>
            </a:r>
          </a:p>
        </p:txBody>
      </p:sp>
      <p:sp>
        <p:nvSpPr>
          <p:cNvPr id="67" name="Oval 66"/>
          <p:cNvSpPr/>
          <p:nvPr/>
        </p:nvSpPr>
        <p:spPr>
          <a:xfrm>
            <a:off x="4645152" y="5349240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73752" y="5285232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HC fixed across PP via stream-packed send/recv.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47304" y="2103120"/>
            <a:ext cx="3703320" cy="36576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21624" y="23317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5FFFA6"/>
                </a:solidFill>
                <a:latin typeface="JetBrains Mono"/>
              </a:rPr>
              <a:t>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47304" y="2103120"/>
            <a:ext cx="73152" cy="3657600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21624" y="352044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3E8FA"/>
                </a:solidFill>
                <a:latin typeface="Inter"/>
              </a:rPr>
              <a:t>Verifiable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421624" y="3977639"/>
            <a:ext cx="315468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8467344" y="4178808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95944" y="411480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State-dict adapter: HF → Primus weight names.</a:t>
            </a:r>
          </a:p>
        </p:txBody>
      </p:sp>
      <p:sp>
        <p:nvSpPr>
          <p:cNvPr id="76" name="Oval 75"/>
          <p:cNvSpPr/>
          <p:nvPr/>
        </p:nvSpPr>
        <p:spPr>
          <a:xfrm>
            <a:off x="8467344" y="4471416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95944" y="440740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Numerical-alignment harness vs HF reference.</a:t>
            </a:r>
          </a:p>
        </p:txBody>
      </p:sp>
      <p:sp>
        <p:nvSpPr>
          <p:cNvPr id="78" name="Oval 77"/>
          <p:cNvSpPr/>
          <p:nvPr/>
        </p:nvSpPr>
        <p:spPr>
          <a:xfrm>
            <a:off x="8467344" y="4764024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95944" y="470001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Distributed smokes: TP/PP/EP grids, MTP on/off.</a:t>
            </a:r>
          </a:p>
        </p:txBody>
      </p:sp>
      <p:sp>
        <p:nvSpPr>
          <p:cNvPr id="80" name="Oval 79"/>
          <p:cNvSpPr/>
          <p:nvPr/>
        </p:nvSpPr>
        <p:spPr>
          <a:xfrm>
            <a:off x="8467344" y="5056632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695944" y="4992624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Release gates G1..G13 — every phase contributes.</a:t>
            </a:r>
          </a:p>
        </p:txBody>
      </p:sp>
      <p:sp>
        <p:nvSpPr>
          <p:cNvPr id="82" name="Oval 81"/>
          <p:cNvSpPr/>
          <p:nvPr/>
        </p:nvSpPr>
        <p:spPr>
          <a:xfrm>
            <a:off x="8467344" y="5349240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695944" y="5285232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6A1C4"/>
                </a:solidFill>
                <a:latin typeface="Inter"/>
              </a:rPr>
              <a:t>All gates green before P21 / release.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943600"/>
            <a:ext cx="11155680" cy="502920"/>
          </a:xfrm>
          <a:prstGeom prst="roundRect">
            <a:avLst>
              <a:gd name="adj" fmla="val 30000"/>
            </a:avLst>
          </a:prstGeom>
          <a:solidFill>
            <a:srgbClr val="181F3A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DDCFF"/>
                </a:solidFill>
                <a:latin typeface="JetBrains Mono"/>
              </a:rPr>
              <a:t>GUIDING PRINCIPLES  ·  reuse &gt; reinvent  ·  spec &gt; monolith  ·  parity &gt; perf  ·  tests gate phases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05 · PLAN-2 PHASE BREAKDOWN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Ten phases — P12 lockdown to P21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Each phase has explicit deliverables, exit criteria, and a release gate.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0116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PHASE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20116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201168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DELIVERABLE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20116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88"/>
                </a:solidFill>
                <a:latin typeface="JetBrains Mono"/>
              </a:rPr>
              <a:t>TYPE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2304288"/>
            <a:ext cx="11155680" cy="0"/>
          </a:xfrm>
          <a:prstGeom prst="line">
            <a:avLst/>
          </a:prstGeom>
          <a:ln w="1270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02920" y="2395728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2395728"/>
            <a:ext cx="54864" cy="347472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24414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46B"/>
                </a:solidFill>
                <a:latin typeface="JetBrains Mono"/>
              </a:rPr>
              <a:t>P12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24414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Lockdown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244144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Plan-2 scope sign-off; status.md / dashboards updated.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35640" y="2441448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835640" y="24434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DOC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779776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2920" y="2779776"/>
            <a:ext cx="54864" cy="347472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282549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DDCFF"/>
                </a:solidFill>
                <a:latin typeface="JetBrains Mono"/>
              </a:rPr>
              <a:t>P13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2825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Faithful Attention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3320" y="282549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DeepseekV4Attention(MLASelfAttention) with single-latent KV, q/kv_norm, grouped O, sink scalar.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35640" y="2825496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835640" y="282749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4DDCFF"/>
                </a:solidFill>
                <a:latin typeface="JetBrains Mono"/>
              </a:rPr>
              <a:t>CODE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3163824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3163824"/>
            <a:ext cx="54864" cy="34747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320954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6BFF"/>
                </a:solidFill>
                <a:latin typeface="JetBrains Mono"/>
              </a:rPr>
              <a:t>P14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60" y="320954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MoE &amp; Activation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3320" y="320954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HashRouter as TopKRouter subclass; learned router with sqrtsoftplus; pre-mul clamp; ClampedSwiGLU MLP.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835640" y="3209544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835640" y="321154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CODE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3547872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02920" y="3547872"/>
            <a:ext cx="54864" cy="34747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" y="3593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6BFF"/>
                </a:solidFill>
                <a:latin typeface="JetBrains Mono"/>
              </a:rPr>
              <a:t>P15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0160" y="35935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Layer · Block · HC×PP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03320" y="359359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DeepseekV4Layer(TransformerLayer); TransformerBlock subclass; HC stream-packed PP send/recv.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835640" y="3593592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835640" y="359559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CODE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3931920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02920" y="3931920"/>
            <a:ext cx="54864" cy="347472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3977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DDCFF"/>
                </a:solidFill>
                <a:latin typeface="JetBrains Mono"/>
              </a:rPr>
              <a:t>P16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80160" y="3977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MTP integration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03320" y="397764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Plug into MultiTokenPredictionBlock; lookahead heads PP-aware; per-head loss aggregation.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35640" y="3977640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835640" y="397964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4DDCFF"/>
                </a:solidFill>
                <a:latin typeface="JetBrains Mono"/>
              </a:rPr>
              <a:t>CODE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" y="4315968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02920" y="4315968"/>
            <a:ext cx="54864" cy="347472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0080" y="43616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FFFA6"/>
                </a:solidFill>
                <a:latin typeface="JetBrains Mono"/>
              </a:rPr>
              <a:t>P17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0160" y="43616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State-dict Adapter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03320" y="43616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HF V4-Flash / V4-Pro → Primus weight name map; round-trip load/save tested.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835640" y="4361688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35640" y="43636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CODE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2920" y="4700016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02920" y="4700016"/>
            <a:ext cx="54864" cy="347472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474573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46B"/>
                </a:solidFill>
                <a:latin typeface="JetBrains Mono"/>
              </a:rPr>
              <a:t>P18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80160" y="47457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Spec System Audit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03320" y="474573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All V4 modules expressed as ModuleSpec submodules; build_module path everywhere; provider audit.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835640" y="4745736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35640" y="474773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REFACTOR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2920" y="5084064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02920" y="5084064"/>
            <a:ext cx="54864" cy="347472"/>
          </a:xfrm>
          <a:prstGeom prst="rect">
            <a:avLst/>
          </a:prstGeom>
          <a:solidFill>
            <a:srgbClr val="FF6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080" y="5129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9B"/>
                </a:solidFill>
                <a:latin typeface="JetBrains Mono"/>
              </a:rPr>
              <a:t>P19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0" y="5129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Distributed Re-validation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03320" y="512978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TP / PP / EP grid smoke; MTP on/off; HC=K1..K4; FP8 toggles; all gates G1..G11.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835640" y="5129784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6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835640" y="51317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6B9B"/>
                </a:solidFill>
                <a:latin typeface="JetBrains Mono"/>
              </a:rPr>
              <a:t>TEST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" y="5468112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02920" y="5468112"/>
            <a:ext cx="54864" cy="347472"/>
          </a:xfrm>
          <a:prstGeom prst="rect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0080" y="55138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D224D"/>
                </a:solidFill>
                <a:latin typeface="JetBrains Mono"/>
              </a:rPr>
              <a:t>P20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80160" y="55138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Release Gates &amp; Cleanup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03320" y="551383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Numerical alignment vs HF reference; gate G12 / G13 green; deslop pass.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835640" y="5513832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D2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835640" y="551583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D224D"/>
                </a:solidFill>
                <a:latin typeface="JetBrains Mono"/>
              </a:rPr>
              <a:t>TEST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02920" y="5852160"/>
            <a:ext cx="11155680" cy="347472"/>
          </a:xfrm>
          <a:prstGeom prst="roundRect">
            <a:avLst>
              <a:gd name="adj" fmla="val 10000"/>
            </a:avLst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02920" y="5852160"/>
            <a:ext cx="54864" cy="347472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40080" y="58978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FFFA6"/>
                </a:solidFill>
                <a:latin typeface="JetBrains Mono"/>
              </a:rPr>
              <a:t>P21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80160" y="58978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Tag &amp; Handoff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03320" y="58978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6A1C4"/>
                </a:solidFill>
                <a:latin typeface="Inter"/>
              </a:rPr>
              <a:t>Tag v4.0; tech-blog publish; pretrain checkpoint hand-off to convergence team.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835640" y="5897880"/>
            <a:ext cx="777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835640" y="58998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RELEASE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06 · DEPENDENCY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How plan-2 phases unlock each other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Arrows = hard dependencies. Nodes group around three swimlanes.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2286000"/>
            <a:ext cx="11155680" cy="45720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19933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MODULES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023360"/>
            <a:ext cx="11155680" cy="45720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7307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BFF"/>
                </a:solidFill>
                <a:latin typeface="JetBrains Mono"/>
              </a:rPr>
              <a:t>INTEGRATION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486400"/>
            <a:ext cx="11155680" cy="45720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1937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FFFA6"/>
                </a:solidFill>
                <a:latin typeface="JetBrains Mono"/>
              </a:rPr>
              <a:t>VALIDATION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361188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36758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B46B"/>
                </a:solidFill>
                <a:latin typeface="JetBrains Mono"/>
              </a:rPr>
              <a:t>P12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39776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Lockdown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187452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86000" y="19385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DDCFF"/>
                </a:solidFill>
                <a:latin typeface="JetBrains Mono"/>
              </a:rPr>
              <a:t>P13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22402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Faithful Attn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0" y="187452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49040" y="19385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DDCFF"/>
                </a:solidFill>
                <a:latin typeface="JetBrains Mono"/>
              </a:rPr>
              <a:t>P14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0" y="22402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MoE / Activ.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0" y="361188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6758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BFF"/>
                </a:solidFill>
                <a:latin typeface="JetBrains Mono"/>
              </a:rPr>
              <a:t>P15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39776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Layer / Block / HC×PP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361188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49440" y="36758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BFF"/>
                </a:solidFill>
                <a:latin typeface="JetBrains Mono"/>
              </a:rPr>
              <a:t>P16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9776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MTP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361188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36758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BFF"/>
                </a:solidFill>
                <a:latin typeface="JetBrains Mono"/>
              </a:rPr>
              <a:t>P17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39776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State-dict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0" y="361188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692640" y="36758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B46B"/>
                </a:solidFill>
                <a:latin typeface="JetBrains Mono"/>
              </a:rPr>
              <a:t>P18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9776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Spec audit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0" y="507492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0" y="51389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FFA6"/>
                </a:solidFill>
                <a:latin typeface="JetBrains Mono"/>
              </a:rPr>
              <a:t>P19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5440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Dist. re-valid.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44000" y="507492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ED2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35440" y="51389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224D"/>
                </a:solidFill>
                <a:latin typeface="JetBrains Mono"/>
              </a:rPr>
              <a:t>P20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5440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Release gates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07040" y="5074920"/>
            <a:ext cx="1280160" cy="777240"/>
          </a:xfrm>
          <a:prstGeom prst="roundRect">
            <a:avLst>
              <a:gd name="adj" fmla="val 15000"/>
            </a:avLst>
          </a:prstGeom>
          <a:solidFill>
            <a:srgbClr val="0A0D18"/>
          </a:solidFill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698480" y="51389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FFA6"/>
                </a:solidFill>
                <a:latin typeface="JetBrains Mono"/>
              </a:rPr>
              <a:t>P21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0" y="54406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3E8FA"/>
                </a:solidFill>
                <a:latin typeface="Inter"/>
              </a:rPr>
              <a:t>Tag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2700">
            <a:solidFill>
              <a:srgbClr val="4A5A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502920" y="6400800"/>
            <a:ext cx="1920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920" y="64028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4DDCFF"/>
                </a:solidFill>
                <a:latin typeface="JetBrains Mono"/>
              </a:rPr>
              <a:t>Module work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697480" y="6400800"/>
            <a:ext cx="1920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697480" y="64028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Integration / refactor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892040" y="6400800"/>
            <a:ext cx="1920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892040" y="64028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Validation / release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086600" y="6400800"/>
            <a:ext cx="192024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D2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086600" y="64028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D224D"/>
                </a:solidFill>
                <a:latin typeface="JetBrains Mono"/>
              </a:rPr>
              <a:t>Risk gate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08 · TIMELINE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Three plans on one bar chart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Calendar weeks; light bars = done, neon bars = active / planned.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2194560" y="2194560"/>
            <a:ext cx="941832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94560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W17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67297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W18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540034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W19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212771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885508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558245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30982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W23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03720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W24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576457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249194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W26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921931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W27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594668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W28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267405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W29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0" y="2194560"/>
            <a:ext cx="0" cy="3840480"/>
          </a:xfrm>
          <a:prstGeom prst="line">
            <a:avLst/>
          </a:prstGeom>
          <a:ln w="5080">
            <a:solidFill>
              <a:srgbClr val="1016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940142" y="1901952"/>
            <a:ext cx="672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W30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2219913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P0  Investigation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94560" y="2238201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240280" y="2256489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2394481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  Configs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194560" y="2412769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240280" y="2431057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2569048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P2  model_type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67297" y="2587336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913017" y="2605624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2743615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P3  Layer specs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867297" y="2761903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13017" y="2780191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2918182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P4  HC + Hybrid Attn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540034" y="2936470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585754" y="2954758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092750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P5  MoE / RoPE / MTP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40034" y="3111038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585754" y="3129326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3267317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P6  Trainer e2e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12771" y="3285605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258491" y="3303893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3441884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P7  Single-node smoke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12771" y="3460172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58491" y="3478460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DONE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3616452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P8  Plan-1 scoping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885508" y="3634740"/>
            <a:ext cx="164592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3791019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P9  Spec refactor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885508" y="3809307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931228" y="3827595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A86BFF"/>
                </a:solidFill>
                <a:latin typeface="JetBrains Mono"/>
              </a:rPr>
              <a:t>DONE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920" y="3965586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P10 TE provider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558245" y="3983874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603965" y="4002162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A86BFF"/>
                </a:solidFill>
                <a:latin typeface="JetBrains Mono"/>
              </a:rPr>
              <a:t>DONE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4140153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P11 MoE distrib.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58245" y="4158441"/>
            <a:ext cx="672737" cy="87283"/>
          </a:xfrm>
          <a:prstGeom prst="roundRect">
            <a:avLst>
              <a:gd name="adj" fmla="val 40000"/>
            </a:avLst>
          </a:prstGeom>
          <a:solidFill>
            <a:srgbClr val="181F3A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603965" y="4176729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A86BFF"/>
                </a:solidFill>
                <a:latin typeface="JetBrains Mono"/>
              </a:rPr>
              <a:t>PARTIAL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4314721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P12 Plan-2 lockdown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30982" y="4333009"/>
            <a:ext cx="672737" cy="87283"/>
          </a:xfrm>
          <a:prstGeom prst="roundRect">
            <a:avLst>
              <a:gd name="adj" fmla="val 40000"/>
            </a:avLst>
          </a:prstGeom>
          <a:solidFill>
            <a:srgbClr val="4DDCFF"/>
          </a:solidFill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276702" y="4351297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E3E8FA"/>
                </a:solidFill>
                <a:latin typeface="JetBrains Mono"/>
              </a:rPr>
              <a:t>ACTIVE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" y="4489288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P13 Faithful attn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03720" y="4507576"/>
            <a:ext cx="1345474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49440" y="4525864"/>
            <a:ext cx="1254034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DDCFF"/>
                </a:solidFill>
                <a:latin typeface="JetBrains Mono"/>
              </a:rPr>
              <a:t>TODO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4663855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P14 MoE &amp; activ.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76457" y="4682143"/>
            <a:ext cx="1345474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622177" y="4700431"/>
            <a:ext cx="1254034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DDCFF"/>
                </a:solidFill>
                <a:latin typeface="JetBrains Mono"/>
              </a:rPr>
              <a:t>TODO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4838422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P15 Layer / HC×PP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249194" y="4856710"/>
            <a:ext cx="1345474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294914" y="4874998"/>
            <a:ext cx="1254034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A86BFF"/>
                </a:solidFill>
                <a:latin typeface="JetBrains Mono"/>
              </a:rPr>
              <a:t>TODO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5012990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P16 MTP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921931" y="5031278"/>
            <a:ext cx="672737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67651" y="5049566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A86BFF"/>
                </a:solidFill>
                <a:latin typeface="JetBrains Mono"/>
              </a:rPr>
              <a:t>TODO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5187557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P17 State-dict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921931" y="5205845"/>
            <a:ext cx="1345474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967651" y="5224133"/>
            <a:ext cx="1254034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A86BFF"/>
                </a:solidFill>
                <a:latin typeface="JetBrains Mono"/>
              </a:rPr>
              <a:t>TODO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02920" y="5362124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P18 Spec audit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94668" y="5380412"/>
            <a:ext cx="672737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640388" y="5398700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B46B"/>
                </a:solidFill>
                <a:latin typeface="JetBrains Mono"/>
              </a:rPr>
              <a:t>TODO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5536692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P19 Dist. revalid.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267405" y="5554980"/>
            <a:ext cx="672737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313125" y="5573268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5FFFA6"/>
                </a:solidFill>
                <a:latin typeface="JetBrains Mono"/>
              </a:rPr>
              <a:t>TODO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2920" y="5711259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P20 Release gates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0267405" y="5729547"/>
            <a:ext cx="672737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ED2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313125" y="5747835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ED224D"/>
                </a:solidFill>
                <a:latin typeface="JetBrains Mono"/>
              </a:rPr>
              <a:t>TODO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" y="5885826"/>
            <a:ext cx="1645920" cy="872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6A1C4"/>
                </a:solidFill>
                <a:latin typeface="Inter"/>
              </a:rPr>
              <a:t>P21 Tag &amp; handoff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940142" y="5904114"/>
            <a:ext cx="672737" cy="87283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0985862" y="5922402"/>
            <a:ext cx="581297" cy="68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5FFFA6"/>
                </a:solidFill>
                <a:latin typeface="JetBrains Mono"/>
              </a:rPr>
              <a:t>TODO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02920" y="6400800"/>
            <a:ext cx="320040" cy="201168"/>
          </a:xfrm>
          <a:prstGeom prst="roundRect">
            <a:avLst>
              <a:gd name="adj" fmla="val 40000"/>
            </a:avLst>
          </a:prstGeom>
          <a:solidFill>
            <a:srgbClr val="11162A"/>
          </a:solidFill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60120" y="63825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done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514600" y="6400800"/>
            <a:ext cx="320040" cy="201168"/>
          </a:xfrm>
          <a:prstGeom prst="roundRect">
            <a:avLst>
              <a:gd name="adj" fmla="val 40000"/>
            </a:avLst>
          </a:prstGeom>
          <a:solidFill>
            <a:srgbClr val="181F3A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971800" y="63825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partial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526280" y="6400800"/>
            <a:ext cx="320040" cy="201168"/>
          </a:xfrm>
          <a:prstGeom prst="roundRect">
            <a:avLst>
              <a:gd name="adj" fmla="val 40000"/>
            </a:avLst>
          </a:prstGeom>
          <a:solidFill>
            <a:srgbClr val="4DDCFF"/>
          </a:solidFill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983480" y="63825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active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537960" y="6400800"/>
            <a:ext cx="320040" cy="201168"/>
          </a:xfrm>
          <a:prstGeom prst="roundRect">
            <a:avLst>
              <a:gd name="adj" fmla="val 40000"/>
            </a:avLst>
          </a:prstGeom>
          <a:solidFill>
            <a:srgbClr val="0A0D18"/>
          </a:solidFill>
          <a:ln w="12700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995160" y="63825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planned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09 · MILESTONES &amp; RISKS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What success looks like — and what could derail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Stakeholder communication checkpoints + the top-3 things keeping us up at night.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2057400"/>
            <a:ext cx="5577840" cy="41148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FFFA6"/>
                </a:solidFill>
                <a:latin typeface="JetBrains Mono"/>
              </a:rPr>
              <a:t>MILESTONES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7240" y="2697480"/>
            <a:ext cx="502920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68680" y="2926080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923544" y="3035808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143000" y="28712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B46B"/>
                </a:solidFill>
                <a:latin typeface="JetBrains Mono"/>
              </a:rPr>
              <a:t>M1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28712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Plan-2 sign-off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28712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P12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" y="3310128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23544" y="3419856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43000" y="32552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DDCFF"/>
                </a:solidFill>
                <a:latin typeface="JetBrains Mono"/>
              </a:rPr>
              <a:t>M2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0200" y="325526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Faithful attention green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3255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P13 — gate G3</a:t>
            </a:r>
          </a:p>
        </p:txBody>
      </p:sp>
      <p:sp>
        <p:nvSpPr>
          <p:cNvPr id="52" name="Oval 51"/>
          <p:cNvSpPr/>
          <p:nvPr/>
        </p:nvSpPr>
        <p:spPr>
          <a:xfrm>
            <a:off x="868680" y="369417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23544" y="3803904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43000" y="36393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BFF"/>
                </a:solidFill>
                <a:latin typeface="JetBrains Mono"/>
              </a:rPr>
              <a:t>M3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6393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MoE / activation parity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36393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P14 — gate G5</a:t>
            </a:r>
          </a:p>
        </p:txBody>
      </p:sp>
      <p:sp>
        <p:nvSpPr>
          <p:cNvPr id="57" name="Oval 56"/>
          <p:cNvSpPr/>
          <p:nvPr/>
        </p:nvSpPr>
        <p:spPr>
          <a:xfrm>
            <a:off x="868680" y="407822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Connector 57"/>
          <p:cNvCxnSpPr/>
          <p:nvPr/>
        </p:nvCxnSpPr>
        <p:spPr>
          <a:xfrm>
            <a:off x="923544" y="4187952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143000" y="40233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6BFF"/>
                </a:solidFill>
                <a:latin typeface="JetBrains Mono"/>
              </a:rPr>
              <a:t>M4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4023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PP-aware HC verified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4023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P15 — gate G7</a:t>
            </a:r>
          </a:p>
        </p:txBody>
      </p:sp>
      <p:sp>
        <p:nvSpPr>
          <p:cNvPr id="62" name="Oval 61"/>
          <p:cNvSpPr/>
          <p:nvPr/>
        </p:nvSpPr>
        <p:spPr>
          <a:xfrm>
            <a:off x="868680" y="4462272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923544" y="4572000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143000" y="440740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FFA6"/>
                </a:solidFill>
                <a:latin typeface="JetBrains Mono"/>
              </a:rPr>
              <a:t>M5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00200" y="4407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HF checkpoint loadable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44074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P17 — gate G9</a:t>
            </a:r>
          </a:p>
        </p:txBody>
      </p:sp>
      <p:sp>
        <p:nvSpPr>
          <p:cNvPr id="67" name="Oval 66"/>
          <p:cNvSpPr/>
          <p:nvPr/>
        </p:nvSpPr>
        <p:spPr>
          <a:xfrm>
            <a:off x="868680" y="4846320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923544" y="4956048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143000" y="47914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FFA6"/>
                </a:solidFill>
                <a:latin typeface="JetBrains Mono"/>
              </a:rPr>
              <a:t>M6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0200" y="47914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All distributed grids green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43400" y="479145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P19 — gate G11</a:t>
            </a:r>
          </a:p>
        </p:txBody>
      </p:sp>
      <p:sp>
        <p:nvSpPr>
          <p:cNvPr id="72" name="Oval 71"/>
          <p:cNvSpPr/>
          <p:nvPr/>
        </p:nvSpPr>
        <p:spPr>
          <a:xfrm>
            <a:off x="868680" y="5230368"/>
            <a:ext cx="109728" cy="109728"/>
          </a:xfrm>
          <a:prstGeom prst="ellipse">
            <a:avLst/>
          </a:prstGeom>
          <a:solidFill>
            <a:srgbClr val="ED2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923544" y="5340096"/>
            <a:ext cx="0" cy="228600"/>
          </a:xfrm>
          <a:prstGeom prst="line">
            <a:avLst/>
          </a:prstGeom>
          <a:ln w="6350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224D"/>
                </a:solidFill>
                <a:latin typeface="JetBrains Mono"/>
              </a:rPr>
              <a:t>M7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00200" y="51755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Numerical alignment ≤1e-3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51755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P20 — gate G13</a:t>
            </a:r>
          </a:p>
        </p:txBody>
      </p:sp>
      <p:sp>
        <p:nvSpPr>
          <p:cNvPr id="77" name="Oval 76"/>
          <p:cNvSpPr/>
          <p:nvPr/>
        </p:nvSpPr>
        <p:spPr>
          <a:xfrm>
            <a:off x="868680" y="5614416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43000" y="55595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FFA6"/>
                </a:solidFill>
                <a:latin typeface="JetBrains Mono"/>
              </a:rPr>
              <a:t>M8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" y="5559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3E8FA"/>
                </a:solidFill>
                <a:latin typeface="Inter"/>
              </a:rPr>
              <a:t>v4.0 tag &amp; blog published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43400" y="55595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JetBrains Mono"/>
              </a:rPr>
              <a:t>End P21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63640" y="2057400"/>
            <a:ext cx="5394960" cy="41148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37960" y="2286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D224D"/>
                </a:solidFill>
                <a:latin typeface="JetBrains Mono"/>
              </a:rPr>
              <a:t>TOP RISKS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537960" y="2697480"/>
            <a:ext cx="484632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6537960" y="2834640"/>
            <a:ext cx="5029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D2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537960" y="283664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D224D"/>
                </a:solidFill>
                <a:latin typeface="JetBrains Mono"/>
              </a:rPr>
              <a:t>R1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32320" y="281635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Real V4 reference drift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32320" y="309067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HF reference and NeMo diverge on partial-RoPE pairing and HC head application; we may need two compatibility modes.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37960" y="3493007"/>
            <a:ext cx="5029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6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537960" y="3495007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6B9B"/>
                </a:solidFill>
                <a:latin typeface="JetBrains Mono"/>
              </a:rPr>
              <a:t>R2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0" y="3474719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HC × PP correctness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32320" y="3749039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K-stream packing across PP boundaries hasn't been done in MCore; needs custom send/recv tensor schema.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37960" y="4151376"/>
            <a:ext cx="5029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537960" y="415337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R3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32320" y="413308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State-dict ABI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32320" y="440740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Per-head q_norm / kv_norm naming differs between HF and NeMo; must lock canonical naming before P17.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537960" y="4809744"/>
            <a:ext cx="5029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537960" y="481174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R4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32320" y="479145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FP8 / Turbo regressions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32320" y="506577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Re-rooting attention on MLASelfAttention may break TE / Turbo quantised paths. Needs explicit P19 grid.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537960" y="5468112"/>
            <a:ext cx="50292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537960" y="547011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R5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32320" y="544982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Numerical-alignment thresholds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32320" y="572414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Mixing TE FP8 + ClampedSwiGLU + sinkhorn HC produces noise &gt; 1e-3. Need calibrated thresholds per gate.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10 · TEST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Four levels, thirteen gates, one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Each phase contributes tests; nothing ships without G1..G13 green.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2057400"/>
            <a:ext cx="2734056" cy="329184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2920" y="2057400"/>
            <a:ext cx="2734056" cy="640080"/>
          </a:xfrm>
          <a:prstGeom prst="roundRect">
            <a:avLst>
              <a:gd name="adj" fmla="val 4000"/>
            </a:avLst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21762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060A"/>
                </a:solidFill>
                <a:latin typeface="JetBrains Mono"/>
              </a:rPr>
              <a:t>L0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2221992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Inter"/>
              </a:rPr>
              <a:t>Unit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" y="2990088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2926080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RoPE / RMSNorm exactness</a:t>
            </a:r>
          </a:p>
        </p:txBody>
      </p:sp>
      <p:sp>
        <p:nvSpPr>
          <p:cNvPr id="45" name="Oval 44"/>
          <p:cNvSpPr/>
          <p:nvPr/>
        </p:nvSpPr>
        <p:spPr>
          <a:xfrm>
            <a:off x="731520" y="3374136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331012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ClampedSwiGLU pre-mul clamp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3758184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" y="3694176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TopKRouter scores</a:t>
            </a:r>
          </a:p>
        </p:txBody>
      </p:sp>
      <p:sp>
        <p:nvSpPr>
          <p:cNvPr id="49" name="Oval 48"/>
          <p:cNvSpPr/>
          <p:nvPr/>
        </p:nvSpPr>
        <p:spPr>
          <a:xfrm>
            <a:off x="731520" y="4142232"/>
            <a:ext cx="109728" cy="109728"/>
          </a:xfrm>
          <a:prstGeom prst="ellipse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" y="4078224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HashRouter tid2eid stability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28416" y="2057400"/>
            <a:ext cx="2734056" cy="329184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328416" y="2057400"/>
            <a:ext cx="2734056" cy="640080"/>
          </a:xfrm>
          <a:prstGeom prst="roundRect">
            <a:avLst>
              <a:gd name="adj" fmla="val 4000"/>
            </a:avLst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557016" y="21762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060A"/>
                </a:solidFill>
                <a:latin typeface="JetBrains Mono"/>
              </a:rPr>
              <a:t>L1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2816" y="2221992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Inter"/>
              </a:rPr>
              <a:t>Module integration</a:t>
            </a:r>
          </a:p>
        </p:txBody>
      </p:sp>
      <p:sp>
        <p:nvSpPr>
          <p:cNvPr id="55" name="Oval 54"/>
          <p:cNvSpPr/>
          <p:nvPr/>
        </p:nvSpPr>
        <p:spPr>
          <a:xfrm>
            <a:off x="3557016" y="2990088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785616" y="2926080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MLA single-latent KV</a:t>
            </a:r>
          </a:p>
        </p:txBody>
      </p:sp>
      <p:sp>
        <p:nvSpPr>
          <p:cNvPr id="57" name="Oval 56"/>
          <p:cNvSpPr/>
          <p:nvPr/>
        </p:nvSpPr>
        <p:spPr>
          <a:xfrm>
            <a:off x="3557016" y="3374136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85616" y="331012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Compressor / Indexer wiring</a:t>
            </a:r>
          </a:p>
        </p:txBody>
      </p:sp>
      <p:sp>
        <p:nvSpPr>
          <p:cNvPr id="59" name="Oval 58"/>
          <p:cNvSpPr/>
          <p:nvPr/>
        </p:nvSpPr>
        <p:spPr>
          <a:xfrm>
            <a:off x="3557016" y="3758184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85616" y="3694176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DualRoPE on attention block</a:t>
            </a:r>
          </a:p>
        </p:txBody>
      </p:sp>
      <p:sp>
        <p:nvSpPr>
          <p:cNvPr id="61" name="Oval 60"/>
          <p:cNvSpPr/>
          <p:nvPr/>
        </p:nvSpPr>
        <p:spPr>
          <a:xfrm>
            <a:off x="3557016" y="4142232"/>
            <a:ext cx="109728" cy="109728"/>
          </a:xfrm>
          <a:prstGeom prst="ellipse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85616" y="4078224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MoE dispatcher round-trip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53912" y="2057400"/>
            <a:ext cx="2734056" cy="329184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153912" y="2057400"/>
            <a:ext cx="2734056" cy="640080"/>
          </a:xfrm>
          <a:prstGeom prst="roundRect">
            <a:avLst>
              <a:gd name="adj" fmla="val 4000"/>
            </a:avLst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82512" y="21762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060A"/>
                </a:solidFill>
                <a:latin typeface="JetBrains Mono"/>
              </a:rPr>
              <a:t>L2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68312" y="2221992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Inter"/>
              </a:rPr>
              <a:t>Distributed smoke</a:t>
            </a:r>
          </a:p>
        </p:txBody>
      </p:sp>
      <p:sp>
        <p:nvSpPr>
          <p:cNvPr id="67" name="Oval 66"/>
          <p:cNvSpPr/>
          <p:nvPr/>
        </p:nvSpPr>
        <p:spPr>
          <a:xfrm>
            <a:off x="6382512" y="2990088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11112" y="2926080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TP=2/4 ; PP=2/4 ; EP=4/8</a:t>
            </a:r>
          </a:p>
        </p:txBody>
      </p:sp>
      <p:sp>
        <p:nvSpPr>
          <p:cNvPr id="69" name="Oval 68"/>
          <p:cNvSpPr/>
          <p:nvPr/>
        </p:nvSpPr>
        <p:spPr>
          <a:xfrm>
            <a:off x="6382512" y="3374136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11112" y="331012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MTP on/off</a:t>
            </a:r>
          </a:p>
        </p:txBody>
      </p:sp>
      <p:sp>
        <p:nvSpPr>
          <p:cNvPr id="71" name="Oval 70"/>
          <p:cNvSpPr/>
          <p:nvPr/>
        </p:nvSpPr>
        <p:spPr>
          <a:xfrm>
            <a:off x="6382512" y="3758184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611112" y="3694176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HC K=1..4</a:t>
            </a:r>
          </a:p>
        </p:txBody>
      </p:sp>
      <p:sp>
        <p:nvSpPr>
          <p:cNvPr id="73" name="Oval 72"/>
          <p:cNvSpPr/>
          <p:nvPr/>
        </p:nvSpPr>
        <p:spPr>
          <a:xfrm>
            <a:off x="6382512" y="4142232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11112" y="4078224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Activation checkpoint on/off</a:t>
            </a:r>
          </a:p>
        </p:txBody>
      </p:sp>
      <p:sp>
        <p:nvSpPr>
          <p:cNvPr id="75" name="Oval 74"/>
          <p:cNvSpPr/>
          <p:nvPr/>
        </p:nvSpPr>
        <p:spPr>
          <a:xfrm>
            <a:off x="6382512" y="4526280"/>
            <a:ext cx="109728" cy="1097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11112" y="446227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FP8 Turbo on/off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79408" y="2057400"/>
            <a:ext cx="2734056" cy="329184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979408" y="2057400"/>
            <a:ext cx="2734056" cy="640080"/>
          </a:xfrm>
          <a:prstGeom prst="roundRect">
            <a:avLst>
              <a:gd name="adj" fmla="val 4000"/>
            </a:avLst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08008" y="21762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060A"/>
                </a:solidFill>
                <a:latin typeface="JetBrains Mono"/>
              </a:rPr>
              <a:t>L3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93808" y="2221992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060A"/>
                </a:solidFill>
                <a:latin typeface="Inter"/>
              </a:rPr>
              <a:t>Release gate</a:t>
            </a:r>
          </a:p>
        </p:txBody>
      </p:sp>
      <p:sp>
        <p:nvSpPr>
          <p:cNvPr id="81" name="Oval 80"/>
          <p:cNvSpPr/>
          <p:nvPr/>
        </p:nvSpPr>
        <p:spPr>
          <a:xfrm>
            <a:off x="9208008" y="2990088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36608" y="2926080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HF reference numerical align ≤ 1e-3</a:t>
            </a:r>
          </a:p>
        </p:txBody>
      </p:sp>
      <p:sp>
        <p:nvSpPr>
          <p:cNvPr id="83" name="Oval 82"/>
          <p:cNvSpPr/>
          <p:nvPr/>
        </p:nvSpPr>
        <p:spPr>
          <a:xfrm>
            <a:off x="9208008" y="3374136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436608" y="331012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Checkpoint round-trip</a:t>
            </a:r>
          </a:p>
        </p:txBody>
      </p:sp>
      <p:sp>
        <p:nvSpPr>
          <p:cNvPr id="85" name="Oval 84"/>
          <p:cNvSpPr/>
          <p:nvPr/>
        </p:nvSpPr>
        <p:spPr>
          <a:xfrm>
            <a:off x="9208008" y="3758184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436608" y="3694176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Loss curve sanity (toy)</a:t>
            </a:r>
          </a:p>
        </p:txBody>
      </p:sp>
      <p:sp>
        <p:nvSpPr>
          <p:cNvPr id="87" name="Oval 86"/>
          <p:cNvSpPr/>
          <p:nvPr/>
        </p:nvSpPr>
        <p:spPr>
          <a:xfrm>
            <a:off x="9208008" y="4142232"/>
            <a:ext cx="109728" cy="109728"/>
          </a:xfrm>
          <a:prstGeom prst="ellipse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36608" y="4078224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6A1C4"/>
                </a:solidFill>
                <a:latin typeface="Inter"/>
              </a:rPr>
              <a:t>Throughput vs Plan-1 ≥ 0.95×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5577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FFA6"/>
                </a:solidFill>
                <a:latin typeface="JetBrains Mono"/>
              </a:rPr>
              <a:t>RELEASE GATES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02920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G1 build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364168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364168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G2 lint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225416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225416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G3 attn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086664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86664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G4 csa/hca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947912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947912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G5 moe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809160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09160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G6 swiglu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70408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70408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G7 hc-pp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31656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531656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G8 mtp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392904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392904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G9 ckpt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54152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254152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G10 spec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115400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115400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G11 dist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976648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976648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G12 align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837896" y="5943600"/>
            <a:ext cx="841248" cy="320040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5FF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837896" y="5980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FFFA6"/>
                </a:solidFill>
                <a:latin typeface="JetBrains Mono"/>
              </a:rPr>
              <a:t>G13 release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DDCFF"/>
                </a:solidFill>
                <a:latin typeface="JetBrains Mono"/>
              </a:rPr>
              <a:t>11 · CURRENT STATUS &amp; NEXT-2-WEEKS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3E8FA"/>
                </a:solidFill>
                <a:latin typeface="Inter"/>
              </a:rPr>
              <a:t>Where we are today and what lands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6A1C4"/>
                </a:solidFill>
                <a:latin typeface="Inter"/>
              </a:rPr>
              <a:t>Snapshot taken 2026-05-01 against branch dev/wenx/deepseek-v4.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691640"/>
            <a:ext cx="548640" cy="28575"/>
          </a:xfrm>
          <a:prstGeom prst="rect">
            <a:avLst/>
          </a:prstGeom>
          <a:solidFill>
            <a:srgbClr val="4D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1691640"/>
            <a:ext cx="274320" cy="28575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1691640"/>
            <a:ext cx="137160" cy="28575"/>
          </a:xfrm>
          <a:prstGeom prst="rect">
            <a:avLst/>
          </a:prstGeom>
          <a:solidFill>
            <a:srgbClr val="5FF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2057400"/>
            <a:ext cx="5577840" cy="41148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DDCFF"/>
                </a:solidFill>
                <a:latin typeface="JetBrains Mono"/>
              </a:rPr>
              <a:t>TODAY  ·  PLAN-2 LOCKDOWN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7240" y="2697480"/>
            <a:ext cx="502920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28620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FFFA6"/>
                </a:solidFill>
                <a:latin typeface="JetBrains Mono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Architecture review 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31272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10 CRIT / 11 HIGH / 6 MED / 5 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3410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FFFA6"/>
                </a:solidFill>
                <a:latin typeface="JetBrains Mono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3429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Plan-2 docs landed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36758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README + 00..04 in plan-2/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39593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FFFA6"/>
                </a:solidFill>
                <a:latin typeface="JetBrains Mono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977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status.md updated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224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P12 lockdown row appended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5079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FFFA6"/>
                </a:solidFill>
                <a:latin typeface="JetBrains Mono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452627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Timeline HTML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4773167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progress/timeline.html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0566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B46B"/>
                </a:solidFill>
                <a:latin typeface="JetBrains Mono"/>
              </a:rPr>
              <a:t>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Awaiting sign-off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3218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stakeholder review of plan-2 scope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605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B46B"/>
                </a:solidFill>
                <a:latin typeface="JetBrains Mono"/>
              </a:rPr>
              <a:t>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623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Tech-blog rollover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870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as-built notes for plan-1 + pointer to plan-2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2057400"/>
            <a:ext cx="5394960" cy="4114800"/>
          </a:xfrm>
          <a:prstGeom prst="roundRect">
            <a:avLst>
              <a:gd name="adj" fmla="val 4000"/>
            </a:avLst>
          </a:prstGeom>
          <a:solidFill>
            <a:srgbClr val="0A0D18"/>
          </a:solidFill>
          <a:ln w="9525">
            <a:solidFill>
              <a:srgbClr val="33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2286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86BFF"/>
                </a:solidFill>
                <a:latin typeface="Consolas"/>
              </a:rPr>
              <a:t>NEXT 4 WORKDAYS  ·  MAY 06 → MAY 09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37960" y="2697480"/>
            <a:ext cx="4846320" cy="0"/>
          </a:xfrm>
          <a:prstGeom prst="line">
            <a:avLst/>
          </a:prstGeom>
          <a:ln w="9525">
            <a:solidFill>
              <a:srgbClr val="334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537960" y="2880360"/>
            <a:ext cx="10972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28823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4DDCFF"/>
                </a:solidFill>
                <a:latin typeface="JetBrains Mono"/>
              </a:rPr>
              <a:t>May 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6680" y="2862072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P13 + P14  ·  Faithful attn + MoE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3127248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MLA-rooted attn with single-latent KV / q+kv norm / grouped O / sink. Hash + learned routers; pre-mul ClampedSwiGLU.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37960" y="3520440"/>
            <a:ext cx="10972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37960" y="35224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May 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26680" y="3502152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P15 + P16  ·  Layer/Block + MTP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80" y="3767328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DeepseekV4HybridLayer(TL) + Block(TB) with [S,B,K,D] PP packing. MultiTokenPredictionBlock + per-MTP HyperHead.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37960" y="4160520"/>
            <a:ext cx="10972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37960" y="41625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86BFF"/>
                </a:solidFill>
                <a:latin typeface="JetBrains Mono"/>
              </a:rPr>
              <a:t>May 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26680" y="4142232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P17 + P18  ·  Checkpoint + spec audit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80" y="4407408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HF→Primus state-dict adapter; load V4-Flash; provider-built-once contract; YAML compress_ratios → list.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37960" y="4800599"/>
            <a:ext cx="10972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537960" y="4802599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B46B"/>
                </a:solidFill>
                <a:latin typeface="JetBrains Mono"/>
              </a:rPr>
              <a:t>May 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26680" y="478231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3E8FA"/>
                </a:solidFill>
                <a:latin typeface="Inter"/>
              </a:rPr>
              <a:t>P19 + P20 + P21  ·  Validate + ship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80" y="5047487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6A1C4"/>
                </a:solidFill>
                <a:latin typeface="Inter"/>
              </a:rPr>
              <a:t>TP/PP/EP grid smoke; 200-step convergence vs HF; TE on/off perf report; cleanup + tag + handover.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DeepSeek-V4 × Primus  ·  Plan-2 Roadmap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21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2743200" y="-2743200"/>
            <a:ext cx="11887200" cy="11887200"/>
          </a:xfrm>
          <a:prstGeom prst="ellipse">
            <a:avLst/>
          </a:prstGeom>
          <a:noFill/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-1371600" y="-1371600"/>
            <a:ext cx="9144000" cy="9144000"/>
          </a:xfrm>
          <a:prstGeom prst="ellipse">
            <a:avLst/>
          </a:prstGeom>
          <a:noFill/>
          <a:ln w="6350">
            <a:solidFill>
              <a:srgbClr val="4D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2560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DDCFF"/>
                </a:solidFill>
                <a:latin typeface="JetBrains Mono"/>
              </a:rPr>
              <a:t>READY FOR PLAN-2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29260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3E8FA"/>
                </a:solidFill>
                <a:latin typeface="Inter"/>
              </a:rPr>
              <a:t>Let's 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7033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4DDCFF"/>
                </a:solidFill>
                <a:latin typeface="Inter"/>
              </a:rPr>
              <a:t>a real DeepSeek-V4.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88"/>
                </a:solidFill>
                <a:latin typeface="JetBrains Mono"/>
              </a:rPr>
              <a:t>Documents:  deepseek-v4/develop/plan-2/  ·  Progress:  deepseek-v4/develop/progress/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688"/>
                </a:solidFill>
                <a:latin typeface="JetBrains Mono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d0b1989-8fc8-4a69-bcac-d46889461ba5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2450</Words>
  <Application>Microsoft Office PowerPoint</Application>
  <PresentationFormat>宽屏</PresentationFormat>
  <Paragraphs>533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Inter</vt:lpstr>
      <vt:lpstr>JetBrains Mono</vt:lpstr>
      <vt:lpstr>Aptos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Xie, Wen</dc:creator>
  <cp:keywords/>
  <dc:description>generated using python-pptx</dc:description>
  <cp:lastModifiedBy>Xie, Wen</cp:lastModifiedBy>
  <cp:revision>2</cp:revision>
  <dcterms:created xsi:type="dcterms:W3CDTF">2013-01-27T09:14:16Z</dcterms:created>
  <dcterms:modified xsi:type="dcterms:W3CDTF">2026-05-01T07:55:41Z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